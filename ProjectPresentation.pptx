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demonstrate the app in the terminal and explain the exact source code behind its actions.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main.py handles input and output. AirlineSystem handles application rules. Database handles storage.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Flights and passengers each have many tickets. Tickets implement the many-to-many relationship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Foreign keys require an existing flight and passenger. UNIQUE prevents duplicate seats and duplicate passenger bookings on the same flight.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 stops if any table contains records. A fully empty database receives 20 flights, 50 passengers and 40 tickets; random uses a fixed seed.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an operation from 1 to 7. The menu repeats after each action; 0 exits the program.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information → Flight. The user enters the route, departure, capacity and price. The program confirms the new flight 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add_flight() validates the supplied fields, then inserts them. The question marks receive values separately; execute() commits and returns the new ID.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information → Passenger. The name and email are saved as a passenger record. The generated ID is used when booking tickets.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required_text() rejects empty input. Email is converted to lowercase; re.fullmatch() checks its format. add_passenger() then saves the validated values.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selects Add information and Ticket. The program displays saved flights and passengers before asking for their IDs. These screenshots were taken after the earlier successful booking; they explain where the IDs come from.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passenger table is displayed after the flights. Passenger 51 is Lena Nika in this later screenshot because the name has already been updated. The ID remains 51, and that ID is used in the booking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Seat 1 is already booked. Passenger 51 selects available seat 2 on flight 21. The program saves the booking and returns ticket ID 43.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check_booking() checks IDs, the seat range, occupied seats and repeat passenger bookings. A conflict raises ValueError; otherwise the flight is returned.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add_ticket() runs the checks, then stores the flight, passenger, seat and current price. Later changes to the flight price do not alter this ticket price.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 → Passenger by name or ID. A partial name is enough; matching is case-insensitive. The result displays ID, name and email.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 → Flights by destination. The result shows the route, departure, capacity, price and number of booked tickets.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SQL matches either an exact ID or part of a name. An empty result is shown as No records found.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 → Passenger. The program shows the old record, accepts replacement fields and confirms the update. airline.py: update_passenger() runs UPDATE.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Delete or cancel → Ticket → ID 41 → yes. This is a separate ticket on flight 1, not ticket 43 from the booking example. delete_record() removes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sums active ticket prices. Occupancy is ticket count divided by total capacity. The captured statistics precede cancellation. Export writes all records and metrics to results.txt.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Batyrlan presents the console interface; Batyr presents storage and generated data; Alibek presents booking rules, validation, calculations and export. Additional features are re and random.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Airline Reservation System</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A practical walkthrough: user input → stored data → results.</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01</a:t>
            </a:r>
          </a:p>
        </p:txBody>
      </p:sp>
      <p:sp>
        <p:nvSpPr>
          <p:cNvPr id="7" name="TextBox 6"/>
          <p:cNvSpPr txBox="1"/>
          <p:nvPr/>
        </p:nvSpPr>
        <p:spPr>
          <a:xfrm>
            <a:off x="533400" y="2222500"/>
            <a:ext cx="11125200" cy="582168"/>
          </a:xfrm>
          <a:prstGeom prst="rect">
            <a:avLst/>
          </a:prstGeom>
          <a:noFill/>
        </p:spPr>
        <p:txBody>
          <a:bodyPr wrap="none" lIns="0" rIns="0" tIns="0" bIns="0" anchor="t">
            <a:spAutoFit/>
          </a:bodyPr>
          <a:lstStyle/>
          <a:p>
            <a:pPr>
              <a:lnSpc>
                <a:spcPts val="3584"/>
              </a:lnSpc>
              <a:spcBef>
                <a:spcPts val="0"/>
              </a:spcBef>
              <a:spcAft>
                <a:spcPts val="0"/>
              </a:spcAft>
              <a:defRPr sz="2800" b="1">
                <a:solidFill>
                  <a:srgbClr val="52D5C4"/>
                </a:solidFill>
                <a:latin typeface="Arial"/>
              </a:defRPr>
            </a:pPr>
            <a:r>
              <a:t>Python console application + SQLite database</a:t>
            </a:r>
          </a:p>
        </p:txBody>
      </p:sp>
      <p:sp>
        <p:nvSpPr>
          <p:cNvPr id="8" name="TextBox 7"/>
          <p:cNvSpPr txBox="1"/>
          <p:nvPr/>
        </p:nvSpPr>
        <p:spPr>
          <a:xfrm>
            <a:off x="533400" y="2984500"/>
            <a:ext cx="11125200" cy="517144"/>
          </a:xfrm>
          <a:prstGeom prst="rect">
            <a:avLst/>
          </a:prstGeom>
          <a:noFill/>
        </p:spPr>
        <p:txBody>
          <a:bodyPr wrap="none" lIns="0" rIns="0" tIns="0" bIns="0" anchor="t">
            <a:spAutoFit/>
          </a:bodyPr>
          <a:lstStyle/>
          <a:p>
            <a:pPr>
              <a:lnSpc>
                <a:spcPts val="3072"/>
              </a:lnSpc>
              <a:spcBef>
                <a:spcPts val="0"/>
              </a:spcBef>
              <a:spcAft>
                <a:spcPts val="0"/>
              </a:spcAft>
              <a:defRPr sz="2400" b="0">
                <a:solidFill>
                  <a:srgbClr val="F4F7FB"/>
                </a:solidFill>
                <a:latin typeface="Arial"/>
              </a:defRPr>
            </a:pPr>
            <a:r>
              <a:t>Manage flights, passengers and tickets.</a:t>
            </a:r>
          </a:p>
        </p:txBody>
      </p:sp>
      <p:sp>
        <p:nvSpPr>
          <p:cNvPr id="9" name="TextBox 8"/>
          <p:cNvSpPr txBox="1"/>
          <p:nvPr/>
        </p:nvSpPr>
        <p:spPr>
          <a:xfrm>
            <a:off x="533400" y="3619500"/>
            <a:ext cx="11125200" cy="468375"/>
          </a:xfrm>
          <a:prstGeom prst="rect">
            <a:avLst/>
          </a:prstGeom>
          <a:noFill/>
        </p:spPr>
        <p:txBody>
          <a:bodyPr wrap="none" lIns="0" rIns="0" tIns="0" bIns="0" anchor="t">
            <a:spAutoFit/>
          </a:bodyPr>
          <a:lstStyle/>
          <a:p>
            <a:pPr>
              <a:lnSpc>
                <a:spcPts val="2688"/>
              </a:lnSpc>
              <a:spcBef>
                <a:spcPts val="0"/>
              </a:spcBef>
              <a:spcAft>
                <a:spcPts val="0"/>
              </a:spcAft>
              <a:defRPr sz="2100" b="0">
                <a:solidFill>
                  <a:srgbClr val="F4F7FB"/>
                </a:solidFill>
                <a:latin typeface="Arial"/>
              </a:defRPr>
            </a:pPr>
            <a:r>
              <a:t>Book seats, search records, update details and cancel tickets.</a:t>
            </a:r>
          </a:p>
        </p:txBody>
      </p:sp>
      <p:sp>
        <p:nvSpPr>
          <p:cNvPr id="10" name="TextBox 9"/>
          <p:cNvSpPr txBox="1"/>
          <p:nvPr/>
        </p:nvSpPr>
        <p:spPr>
          <a:xfrm>
            <a:off x="533400" y="4254500"/>
            <a:ext cx="11125200" cy="468375"/>
          </a:xfrm>
          <a:prstGeom prst="rect">
            <a:avLst/>
          </a:prstGeom>
          <a:noFill/>
        </p:spPr>
        <p:txBody>
          <a:bodyPr wrap="none" lIns="0" rIns="0" tIns="0" bIns="0" anchor="t">
            <a:spAutoFit/>
          </a:bodyPr>
          <a:lstStyle/>
          <a:p>
            <a:pPr>
              <a:lnSpc>
                <a:spcPts val="2688"/>
              </a:lnSpc>
              <a:spcBef>
                <a:spcPts val="0"/>
              </a:spcBef>
              <a:spcAft>
                <a:spcPts val="0"/>
              </a:spcAft>
              <a:defRPr sz="2100" b="0">
                <a:solidFill>
                  <a:srgbClr val="F4F7FB"/>
                </a:solidFill>
                <a:latin typeface="Arial"/>
              </a:defRPr>
            </a:pPr>
            <a:r>
              <a:t>Calculate revenue and occupancy. Export results.txt.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Three modules, one workflow</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The menu collects input; booking rules validate it; SQLite stores it.</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02</a:t>
            </a:r>
          </a:p>
        </p:txBody>
      </p:sp>
      <p:sp>
        <p:nvSpPr>
          <p:cNvPr id="7" name="Rectangle 6"/>
          <p:cNvSpPr/>
          <p:nvPr/>
        </p:nvSpPr>
        <p:spPr>
          <a:xfrm>
            <a:off x="533400" y="2222500"/>
            <a:ext cx="3403600" cy="2413000"/>
          </a:xfrm>
          <a:prstGeom prst="rect">
            <a:avLst/>
          </a:prstGeom>
          <a:solidFill>
            <a:srgbClr val="1B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2413000"/>
            <a:ext cx="2946400" cy="500888"/>
          </a:xfrm>
          <a:prstGeom prst="rect">
            <a:avLst/>
          </a:prstGeom>
          <a:noFill/>
        </p:spPr>
        <p:txBody>
          <a:bodyPr wrap="none" lIns="0" rIns="0" tIns="0" bIns="0" anchor="t">
            <a:spAutoFit/>
          </a:bodyPr>
          <a:lstStyle/>
          <a:p>
            <a:pPr>
              <a:lnSpc>
                <a:spcPts val="2944"/>
              </a:lnSpc>
              <a:spcBef>
                <a:spcPts val="0"/>
              </a:spcBef>
              <a:spcAft>
                <a:spcPts val="0"/>
              </a:spcAft>
              <a:defRPr sz="2300" b="1">
                <a:solidFill>
                  <a:srgbClr val="52D5C4"/>
                </a:solidFill>
                <a:latin typeface="Arial"/>
              </a:defRPr>
            </a:pPr>
            <a:r>
              <a:t>main.py</a:t>
            </a:r>
          </a:p>
        </p:txBody>
      </p:sp>
      <p:sp>
        <p:nvSpPr>
          <p:cNvPr id="9" name="TextBox 8"/>
          <p:cNvSpPr txBox="1"/>
          <p:nvPr/>
        </p:nvSpPr>
        <p:spPr>
          <a:xfrm>
            <a:off x="762000" y="3060700"/>
            <a:ext cx="2946400" cy="1102360"/>
          </a:xfrm>
          <a:prstGeom prst="rect">
            <a:avLst/>
          </a:prstGeom>
          <a:noFill/>
        </p:spPr>
        <p:txBody>
          <a:bodyPr wrap="none" lIns="0" rIns="0" tIns="0" bIns="0" anchor="t">
            <a:spAutoFit/>
          </a:bodyPr>
          <a:lstStyle/>
          <a:p>
            <a:pPr>
              <a:lnSpc>
                <a:spcPts val="2560"/>
              </a:lnSpc>
              <a:spcBef>
                <a:spcPts val="0"/>
              </a:spcBef>
              <a:spcAft>
                <a:spcPts val="0"/>
              </a:spcAft>
              <a:defRPr sz="2000" b="0">
                <a:solidFill>
                  <a:srgbClr val="F4F7FB"/>
                </a:solidFill>
                <a:latin typeface="Arial"/>
              </a:defRPr>
            </a:pPr>
            <a:r>
              <a:t>Batyrlan</a:t>
            </a:r>
          </a:p>
          <a:p>
            <a:pPr>
              <a:lnSpc>
                <a:spcPts val="2560"/>
              </a:lnSpc>
              <a:spcBef>
                <a:spcPts val="0"/>
              </a:spcBef>
              <a:spcAft>
                <a:spcPts val="0"/>
              </a:spcAft>
              <a:defRPr sz="2000" b="0">
                <a:solidFill>
                  <a:srgbClr val="F4F7FB"/>
                </a:solidFill>
                <a:latin typeface="Arial"/>
              </a:defRPr>
            </a:pPr>
            <a:r>
              <a:t>Input and output</a:t>
            </a:r>
          </a:p>
          <a:p>
            <a:pPr>
              <a:lnSpc>
                <a:spcPts val="2560"/>
              </a:lnSpc>
              <a:spcBef>
                <a:spcPts val="0"/>
              </a:spcBef>
              <a:spcAft>
                <a:spcPts val="0"/>
              </a:spcAft>
              <a:defRPr sz="2000" b="0">
                <a:solidFill>
                  <a:srgbClr val="F4F7FB"/>
                </a:solidFill>
                <a:latin typeface="Arial"/>
              </a:defRPr>
            </a:pPr>
            <a:r>
              <a:t>Menus and errors</a:t>
            </a:r>
          </a:p>
        </p:txBody>
      </p:sp>
      <p:sp>
        <p:nvSpPr>
          <p:cNvPr id="10" name="Rectangle 9"/>
          <p:cNvSpPr/>
          <p:nvPr/>
        </p:nvSpPr>
        <p:spPr>
          <a:xfrm>
            <a:off x="4394200" y="2222500"/>
            <a:ext cx="3403600" cy="2413000"/>
          </a:xfrm>
          <a:prstGeom prst="rect">
            <a:avLst/>
          </a:prstGeom>
          <a:solidFill>
            <a:srgbClr val="1B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2800" y="2413000"/>
            <a:ext cx="2946400" cy="500888"/>
          </a:xfrm>
          <a:prstGeom prst="rect">
            <a:avLst/>
          </a:prstGeom>
          <a:noFill/>
        </p:spPr>
        <p:txBody>
          <a:bodyPr wrap="none" lIns="0" rIns="0" tIns="0" bIns="0" anchor="t">
            <a:spAutoFit/>
          </a:bodyPr>
          <a:lstStyle/>
          <a:p>
            <a:pPr>
              <a:lnSpc>
                <a:spcPts val="2944"/>
              </a:lnSpc>
              <a:spcBef>
                <a:spcPts val="0"/>
              </a:spcBef>
              <a:spcAft>
                <a:spcPts val="0"/>
              </a:spcAft>
              <a:defRPr sz="2300" b="1">
                <a:solidFill>
                  <a:srgbClr val="52D5C4"/>
                </a:solidFill>
                <a:latin typeface="Arial"/>
              </a:defRPr>
            </a:pPr>
            <a:r>
              <a:t>airline.py</a:t>
            </a:r>
          </a:p>
        </p:txBody>
      </p:sp>
      <p:sp>
        <p:nvSpPr>
          <p:cNvPr id="12" name="TextBox 11"/>
          <p:cNvSpPr txBox="1"/>
          <p:nvPr/>
        </p:nvSpPr>
        <p:spPr>
          <a:xfrm>
            <a:off x="4622800" y="3060700"/>
            <a:ext cx="2946400" cy="1102360"/>
          </a:xfrm>
          <a:prstGeom prst="rect">
            <a:avLst/>
          </a:prstGeom>
          <a:noFill/>
        </p:spPr>
        <p:txBody>
          <a:bodyPr wrap="none" lIns="0" rIns="0" tIns="0" bIns="0" anchor="t">
            <a:spAutoFit/>
          </a:bodyPr>
          <a:lstStyle/>
          <a:p>
            <a:pPr>
              <a:lnSpc>
                <a:spcPts val="2560"/>
              </a:lnSpc>
              <a:spcBef>
                <a:spcPts val="0"/>
              </a:spcBef>
              <a:spcAft>
                <a:spcPts val="0"/>
              </a:spcAft>
              <a:defRPr sz="2000" b="0">
                <a:solidFill>
                  <a:srgbClr val="F4F7FB"/>
                </a:solidFill>
                <a:latin typeface="Arial"/>
              </a:defRPr>
            </a:pPr>
            <a:r>
              <a:t>Alibek</a:t>
            </a:r>
          </a:p>
          <a:p>
            <a:pPr>
              <a:lnSpc>
                <a:spcPts val="2560"/>
              </a:lnSpc>
              <a:spcBef>
                <a:spcPts val="0"/>
              </a:spcBef>
              <a:spcAft>
                <a:spcPts val="0"/>
              </a:spcAft>
              <a:defRPr sz="2000" b="0">
                <a:solidFill>
                  <a:srgbClr val="F4F7FB"/>
                </a:solidFill>
                <a:latin typeface="Arial"/>
              </a:defRPr>
            </a:pPr>
            <a:r>
              <a:t>Booking and search</a:t>
            </a:r>
          </a:p>
          <a:p>
            <a:pPr>
              <a:lnSpc>
                <a:spcPts val="2560"/>
              </a:lnSpc>
              <a:spcBef>
                <a:spcPts val="0"/>
              </a:spcBef>
              <a:spcAft>
                <a:spcPts val="0"/>
              </a:spcAft>
              <a:defRPr sz="2000" b="0">
                <a:solidFill>
                  <a:srgbClr val="F4F7FB"/>
                </a:solidFill>
                <a:latin typeface="Arial"/>
              </a:defRPr>
            </a:pPr>
            <a:r>
              <a:t>Statistics and export</a:t>
            </a:r>
          </a:p>
        </p:txBody>
      </p:sp>
      <p:sp>
        <p:nvSpPr>
          <p:cNvPr id="13" name="Rectangle 12"/>
          <p:cNvSpPr/>
          <p:nvPr/>
        </p:nvSpPr>
        <p:spPr>
          <a:xfrm>
            <a:off x="8255000" y="2222500"/>
            <a:ext cx="3403600" cy="2413000"/>
          </a:xfrm>
          <a:prstGeom prst="rect">
            <a:avLst/>
          </a:prstGeom>
          <a:solidFill>
            <a:srgbClr val="1B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83600" y="2413000"/>
            <a:ext cx="2946400" cy="500888"/>
          </a:xfrm>
          <a:prstGeom prst="rect">
            <a:avLst/>
          </a:prstGeom>
          <a:noFill/>
        </p:spPr>
        <p:txBody>
          <a:bodyPr wrap="none" lIns="0" rIns="0" tIns="0" bIns="0" anchor="t">
            <a:spAutoFit/>
          </a:bodyPr>
          <a:lstStyle/>
          <a:p>
            <a:pPr>
              <a:lnSpc>
                <a:spcPts val="2944"/>
              </a:lnSpc>
              <a:spcBef>
                <a:spcPts val="0"/>
              </a:spcBef>
              <a:spcAft>
                <a:spcPts val="0"/>
              </a:spcAft>
              <a:defRPr sz="2300" b="1">
                <a:solidFill>
                  <a:srgbClr val="52D5C4"/>
                </a:solidFill>
                <a:latin typeface="Arial"/>
              </a:defRPr>
            </a:pPr>
            <a:r>
              <a:t>database.py</a:t>
            </a:r>
          </a:p>
        </p:txBody>
      </p:sp>
      <p:sp>
        <p:nvSpPr>
          <p:cNvPr id="15" name="TextBox 14"/>
          <p:cNvSpPr txBox="1"/>
          <p:nvPr/>
        </p:nvSpPr>
        <p:spPr>
          <a:xfrm>
            <a:off x="8483600" y="3060700"/>
            <a:ext cx="2946400" cy="1102360"/>
          </a:xfrm>
          <a:prstGeom prst="rect">
            <a:avLst/>
          </a:prstGeom>
          <a:noFill/>
        </p:spPr>
        <p:txBody>
          <a:bodyPr wrap="none" lIns="0" rIns="0" tIns="0" bIns="0" anchor="t">
            <a:spAutoFit/>
          </a:bodyPr>
          <a:lstStyle/>
          <a:p>
            <a:pPr>
              <a:lnSpc>
                <a:spcPts val="2560"/>
              </a:lnSpc>
              <a:spcBef>
                <a:spcPts val="0"/>
              </a:spcBef>
              <a:spcAft>
                <a:spcPts val="0"/>
              </a:spcAft>
              <a:defRPr sz="2000" b="0">
                <a:solidFill>
                  <a:srgbClr val="F4F7FB"/>
                </a:solidFill>
                <a:latin typeface="Arial"/>
              </a:defRPr>
            </a:pPr>
            <a:r>
              <a:t>Batyr</a:t>
            </a:r>
          </a:p>
          <a:p>
            <a:pPr>
              <a:lnSpc>
                <a:spcPts val="2560"/>
              </a:lnSpc>
              <a:spcBef>
                <a:spcPts val="0"/>
              </a:spcBef>
              <a:spcAft>
                <a:spcPts val="0"/>
              </a:spcAft>
              <a:defRPr sz="2000" b="0">
                <a:solidFill>
                  <a:srgbClr val="F4F7FB"/>
                </a:solidFill>
                <a:latin typeface="Arial"/>
              </a:defRPr>
            </a:pPr>
            <a:r>
              <a:t>Tables and SQL</a:t>
            </a:r>
          </a:p>
          <a:p>
            <a:pPr>
              <a:lnSpc>
                <a:spcPts val="2560"/>
              </a:lnSpc>
              <a:spcBef>
                <a:spcPts val="0"/>
              </a:spcBef>
              <a:spcAft>
                <a:spcPts val="0"/>
              </a:spcAft>
              <a:defRPr sz="2000" b="0">
                <a:solidFill>
                  <a:srgbClr val="F4F7FB"/>
                </a:solidFill>
                <a:latin typeface="Arial"/>
              </a:defRPr>
            </a:pPr>
            <a:r>
              <a:t>Persistent data</a:t>
            </a:r>
          </a:p>
        </p:txBody>
      </p:sp>
      <p:sp>
        <p:nvSpPr>
          <p:cNvPr id="16" name="TextBox 15"/>
          <p:cNvSpPr txBox="1"/>
          <p:nvPr/>
        </p:nvSpPr>
        <p:spPr>
          <a:xfrm>
            <a:off x="3987800" y="3111500"/>
            <a:ext cx="368300" cy="484631"/>
          </a:xfrm>
          <a:prstGeom prst="rect">
            <a:avLst/>
          </a:prstGeom>
          <a:noFill/>
        </p:spPr>
        <p:txBody>
          <a:bodyPr wrap="none" lIns="0" rIns="0" tIns="0" bIns="0" anchor="t">
            <a:spAutoFit/>
          </a:bodyPr>
          <a:lstStyle/>
          <a:p>
            <a:pPr>
              <a:lnSpc>
                <a:spcPts val="2816"/>
              </a:lnSpc>
              <a:spcBef>
                <a:spcPts val="0"/>
              </a:spcBef>
              <a:spcAft>
                <a:spcPts val="0"/>
              </a:spcAft>
              <a:defRPr sz="2200" b="0">
                <a:solidFill>
                  <a:srgbClr val="FFBC75"/>
                </a:solidFill>
                <a:latin typeface="Arial"/>
              </a:defRPr>
            </a:pPr>
            <a:r>
              <a:t>→</a:t>
            </a:r>
          </a:p>
        </p:txBody>
      </p:sp>
      <p:sp>
        <p:nvSpPr>
          <p:cNvPr id="17" name="TextBox 16"/>
          <p:cNvSpPr txBox="1"/>
          <p:nvPr/>
        </p:nvSpPr>
        <p:spPr>
          <a:xfrm>
            <a:off x="7848600" y="3111500"/>
            <a:ext cx="368300" cy="484631"/>
          </a:xfrm>
          <a:prstGeom prst="rect">
            <a:avLst/>
          </a:prstGeom>
          <a:noFill/>
        </p:spPr>
        <p:txBody>
          <a:bodyPr wrap="none" lIns="0" rIns="0" tIns="0" bIns="0" anchor="t">
            <a:spAutoFit/>
          </a:bodyPr>
          <a:lstStyle/>
          <a:p>
            <a:pPr>
              <a:lnSpc>
                <a:spcPts val="2816"/>
              </a:lnSpc>
              <a:spcBef>
                <a:spcPts val="0"/>
              </a:spcBef>
              <a:spcAft>
                <a:spcPts val="0"/>
              </a:spcAft>
              <a:defRPr sz="2200" b="0">
                <a:solidFill>
                  <a:srgbClr val="FFBC75"/>
                </a:solidFill>
                <a:latin typeface="Arial"/>
              </a:defRPr>
            </a:pPr>
            <a:r>
              <a:t>→</a:t>
            </a:r>
          </a:p>
        </p:txBody>
      </p:sp>
      <p:sp>
        <p:nvSpPr>
          <p:cNvPr id="18" name="TextBox 17"/>
          <p:cNvSpPr txBox="1"/>
          <p:nvPr/>
        </p:nvSpPr>
        <p:spPr>
          <a:xfrm>
            <a:off x="533400" y="5346700"/>
            <a:ext cx="11125200" cy="419608"/>
          </a:xfrm>
          <a:prstGeom prst="rect">
            <a:avLst/>
          </a:prstGeom>
          <a:noFill/>
        </p:spPr>
        <p:txBody>
          <a:bodyPr wrap="none" lIns="0" rIns="0" tIns="0" bIns="0" anchor="t">
            <a:spAutoFit/>
          </a:bodyPr>
          <a:lstStyle/>
          <a:p>
            <a:pPr>
              <a:lnSpc>
                <a:spcPts val="2304"/>
              </a:lnSpc>
              <a:spcBef>
                <a:spcPts val="0"/>
              </a:spcBef>
              <a:spcAft>
                <a:spcPts val="0"/>
              </a:spcAft>
              <a:defRPr sz="1800" b="0">
                <a:solidFill>
                  <a:srgbClr val="B7C6D8"/>
                </a:solidFill>
                <a:latin typeface="Arial"/>
              </a:defRPr>
            </a:pPr>
            <a:r>
              <a:t>Example: enter a seat → check availability → save a ticket → show its ID.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How the tables are connected</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A ticket links one passenger to one flight.</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03</a:t>
            </a:r>
          </a:p>
        </p:txBody>
      </p:sp>
      <p:sp>
        <p:nvSpPr>
          <p:cNvPr id="7" name="Rectangle 6"/>
          <p:cNvSpPr/>
          <p:nvPr/>
        </p:nvSpPr>
        <p:spPr>
          <a:xfrm>
            <a:off x="533400" y="2222500"/>
            <a:ext cx="3403600" cy="2413000"/>
          </a:xfrm>
          <a:prstGeom prst="rect">
            <a:avLst/>
          </a:prstGeom>
          <a:solidFill>
            <a:srgbClr val="1B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600" y="2413000"/>
            <a:ext cx="2997200" cy="533400"/>
          </a:xfrm>
          <a:prstGeom prst="rect">
            <a:avLst/>
          </a:prstGeom>
          <a:noFill/>
        </p:spPr>
        <p:txBody>
          <a:bodyPr wrap="none" lIns="0" rIns="0" tIns="0" bIns="0" anchor="t">
            <a:spAutoFit/>
          </a:bodyPr>
          <a:lstStyle/>
          <a:p>
            <a:pPr>
              <a:lnSpc>
                <a:spcPts val="3200"/>
              </a:lnSpc>
              <a:spcBef>
                <a:spcPts val="0"/>
              </a:spcBef>
              <a:spcAft>
                <a:spcPts val="0"/>
              </a:spcAft>
              <a:defRPr sz="2500" b="1">
                <a:solidFill>
                  <a:srgbClr val="52D5C4"/>
                </a:solidFill>
                <a:latin typeface="Arial"/>
              </a:defRPr>
            </a:pPr>
            <a:r>
              <a:t>flights</a:t>
            </a:r>
          </a:p>
        </p:txBody>
      </p:sp>
      <p:sp>
        <p:nvSpPr>
          <p:cNvPr id="9" name="TextBox 8"/>
          <p:cNvSpPr txBox="1"/>
          <p:nvPr/>
        </p:nvSpPr>
        <p:spPr>
          <a:xfrm>
            <a:off x="736600" y="3111500"/>
            <a:ext cx="2997200" cy="907288"/>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F4F7FB"/>
                </a:solidFill>
                <a:latin typeface="Arial"/>
              </a:defRPr>
            </a:pPr>
            <a:r>
              <a:t>id [primary key]</a:t>
            </a:r>
          </a:p>
          <a:p>
            <a:pPr>
              <a:lnSpc>
                <a:spcPts val="2048"/>
              </a:lnSpc>
              <a:spcBef>
                <a:spcPts val="0"/>
              </a:spcBef>
              <a:spcAft>
                <a:spcPts val="0"/>
              </a:spcAft>
              <a:defRPr sz="1600" b="0">
                <a:solidFill>
                  <a:srgbClr val="F4F7FB"/>
                </a:solidFill>
                <a:latin typeface="Arial"/>
              </a:defRPr>
            </a:pPr>
            <a:r>
              <a:t>route and departure</a:t>
            </a:r>
          </a:p>
          <a:p>
            <a:pPr>
              <a:lnSpc>
                <a:spcPts val="2048"/>
              </a:lnSpc>
              <a:spcBef>
                <a:spcPts val="0"/>
              </a:spcBef>
              <a:spcAft>
                <a:spcPts val="0"/>
              </a:spcAft>
              <a:defRPr sz="1600" b="0">
                <a:solidFill>
                  <a:srgbClr val="F4F7FB"/>
                </a:solidFill>
                <a:latin typeface="Arial"/>
              </a:defRPr>
            </a:pPr>
            <a:r>
              <a:t>capacity and price</a:t>
            </a:r>
          </a:p>
        </p:txBody>
      </p:sp>
      <p:sp>
        <p:nvSpPr>
          <p:cNvPr id="10" name="Rectangle 9"/>
          <p:cNvSpPr/>
          <p:nvPr/>
        </p:nvSpPr>
        <p:spPr>
          <a:xfrm>
            <a:off x="4394200" y="2222500"/>
            <a:ext cx="3403600" cy="2413000"/>
          </a:xfrm>
          <a:prstGeom prst="rect">
            <a:avLst/>
          </a:prstGeom>
          <a:solidFill>
            <a:srgbClr val="1B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7400" y="2413000"/>
            <a:ext cx="2997200" cy="533400"/>
          </a:xfrm>
          <a:prstGeom prst="rect">
            <a:avLst/>
          </a:prstGeom>
          <a:noFill/>
        </p:spPr>
        <p:txBody>
          <a:bodyPr wrap="none" lIns="0" rIns="0" tIns="0" bIns="0" anchor="t">
            <a:spAutoFit/>
          </a:bodyPr>
          <a:lstStyle/>
          <a:p>
            <a:pPr>
              <a:lnSpc>
                <a:spcPts val="3200"/>
              </a:lnSpc>
              <a:spcBef>
                <a:spcPts val="0"/>
              </a:spcBef>
              <a:spcAft>
                <a:spcPts val="0"/>
              </a:spcAft>
              <a:defRPr sz="2500" b="1">
                <a:solidFill>
                  <a:srgbClr val="52D5C4"/>
                </a:solidFill>
                <a:latin typeface="Arial"/>
              </a:defRPr>
            </a:pPr>
            <a:r>
              <a:t>tickets</a:t>
            </a:r>
          </a:p>
        </p:txBody>
      </p:sp>
      <p:sp>
        <p:nvSpPr>
          <p:cNvPr id="12" name="TextBox 11"/>
          <p:cNvSpPr txBox="1"/>
          <p:nvPr/>
        </p:nvSpPr>
        <p:spPr>
          <a:xfrm>
            <a:off x="4597400" y="3111500"/>
            <a:ext cx="2997200" cy="907288"/>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F4F7FB"/>
                </a:solidFill>
                <a:latin typeface="Arial"/>
              </a:defRPr>
            </a:pPr>
            <a:r>
              <a:t>flight_id [foreign key]</a:t>
            </a:r>
          </a:p>
          <a:p>
            <a:pPr>
              <a:lnSpc>
                <a:spcPts val="2048"/>
              </a:lnSpc>
              <a:spcBef>
                <a:spcPts val="0"/>
              </a:spcBef>
              <a:spcAft>
                <a:spcPts val="0"/>
              </a:spcAft>
              <a:defRPr sz="1600" b="0">
                <a:solidFill>
                  <a:srgbClr val="F4F7FB"/>
                </a:solidFill>
                <a:latin typeface="Arial"/>
              </a:defRPr>
            </a:pPr>
            <a:r>
              <a:t>passenger_id [foreign key]</a:t>
            </a:r>
          </a:p>
          <a:p>
            <a:pPr>
              <a:lnSpc>
                <a:spcPts val="2048"/>
              </a:lnSpc>
              <a:spcBef>
                <a:spcPts val="0"/>
              </a:spcBef>
              <a:spcAft>
                <a:spcPts val="0"/>
              </a:spcAft>
              <a:defRPr sz="1600" b="0">
                <a:solidFill>
                  <a:srgbClr val="F4F7FB"/>
                </a:solidFill>
                <a:latin typeface="Arial"/>
              </a:defRPr>
            </a:pPr>
            <a:r>
              <a:t>seat and booking price</a:t>
            </a:r>
          </a:p>
        </p:txBody>
      </p:sp>
      <p:sp>
        <p:nvSpPr>
          <p:cNvPr id="13" name="Rectangle 12"/>
          <p:cNvSpPr/>
          <p:nvPr/>
        </p:nvSpPr>
        <p:spPr>
          <a:xfrm>
            <a:off x="8255000" y="2222500"/>
            <a:ext cx="3403600" cy="2413000"/>
          </a:xfrm>
          <a:prstGeom prst="rect">
            <a:avLst/>
          </a:prstGeom>
          <a:solidFill>
            <a:srgbClr val="1B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2413000"/>
            <a:ext cx="2997200" cy="533400"/>
          </a:xfrm>
          <a:prstGeom prst="rect">
            <a:avLst/>
          </a:prstGeom>
          <a:noFill/>
        </p:spPr>
        <p:txBody>
          <a:bodyPr wrap="none" lIns="0" rIns="0" tIns="0" bIns="0" anchor="t">
            <a:spAutoFit/>
          </a:bodyPr>
          <a:lstStyle/>
          <a:p>
            <a:pPr>
              <a:lnSpc>
                <a:spcPts val="3200"/>
              </a:lnSpc>
              <a:spcBef>
                <a:spcPts val="0"/>
              </a:spcBef>
              <a:spcAft>
                <a:spcPts val="0"/>
              </a:spcAft>
              <a:defRPr sz="2500" b="1">
                <a:solidFill>
                  <a:srgbClr val="52D5C4"/>
                </a:solidFill>
                <a:latin typeface="Arial"/>
              </a:defRPr>
            </a:pPr>
            <a:r>
              <a:t>passengers</a:t>
            </a:r>
          </a:p>
        </p:txBody>
      </p:sp>
      <p:sp>
        <p:nvSpPr>
          <p:cNvPr id="15" name="TextBox 14"/>
          <p:cNvSpPr txBox="1"/>
          <p:nvPr/>
        </p:nvSpPr>
        <p:spPr>
          <a:xfrm>
            <a:off x="8458200" y="3111500"/>
            <a:ext cx="2997200" cy="907288"/>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F4F7FB"/>
                </a:solidFill>
                <a:latin typeface="Arial"/>
              </a:defRPr>
            </a:pPr>
            <a:r>
              <a:t>id [primary key]</a:t>
            </a:r>
          </a:p>
          <a:p>
            <a:pPr>
              <a:lnSpc>
                <a:spcPts val="2048"/>
              </a:lnSpc>
              <a:spcBef>
                <a:spcPts val="0"/>
              </a:spcBef>
              <a:spcAft>
                <a:spcPts val="0"/>
              </a:spcAft>
              <a:defRPr sz="1600" b="0">
                <a:solidFill>
                  <a:srgbClr val="F4F7FB"/>
                </a:solidFill>
                <a:latin typeface="Arial"/>
              </a:defRPr>
            </a:pPr>
            <a:r>
              <a:t>name</a:t>
            </a:r>
          </a:p>
          <a:p>
            <a:pPr>
              <a:lnSpc>
                <a:spcPts val="2048"/>
              </a:lnSpc>
              <a:spcBef>
                <a:spcPts val="0"/>
              </a:spcBef>
              <a:spcAft>
                <a:spcPts val="0"/>
              </a:spcAft>
              <a:defRPr sz="1600" b="0">
                <a:solidFill>
                  <a:srgbClr val="F4F7FB"/>
                </a:solidFill>
                <a:latin typeface="Arial"/>
              </a:defRPr>
            </a:pPr>
            <a:r>
              <a:t>unique email</a:t>
            </a:r>
          </a:p>
        </p:txBody>
      </p:sp>
      <p:sp>
        <p:nvSpPr>
          <p:cNvPr id="16" name="TextBox 15"/>
          <p:cNvSpPr txBox="1"/>
          <p:nvPr/>
        </p:nvSpPr>
        <p:spPr>
          <a:xfrm>
            <a:off x="3987800" y="3022600"/>
            <a:ext cx="3683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FFBC75"/>
                </a:solidFill>
                <a:latin typeface="Arial"/>
              </a:defRPr>
            </a:pPr>
            <a:r>
              <a:t>1:N</a:t>
            </a:r>
          </a:p>
        </p:txBody>
      </p:sp>
      <p:sp>
        <p:nvSpPr>
          <p:cNvPr id="17" name="TextBox 16"/>
          <p:cNvSpPr txBox="1"/>
          <p:nvPr/>
        </p:nvSpPr>
        <p:spPr>
          <a:xfrm>
            <a:off x="7848600" y="3022600"/>
            <a:ext cx="3683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FFBC75"/>
                </a:solidFill>
                <a:latin typeface="Arial"/>
              </a:defRPr>
            </a:pPr>
            <a:r>
              <a:t>N:1</a:t>
            </a:r>
          </a:p>
        </p:txBody>
      </p:sp>
      <p:sp>
        <p:nvSpPr>
          <p:cNvPr id="18" name="TextBox 17"/>
          <p:cNvSpPr txBox="1"/>
          <p:nvPr/>
        </p:nvSpPr>
        <p:spPr>
          <a:xfrm>
            <a:off x="533400" y="5283200"/>
            <a:ext cx="11125200" cy="419608"/>
          </a:xfrm>
          <a:prstGeom prst="rect">
            <a:avLst/>
          </a:prstGeom>
          <a:noFill/>
        </p:spPr>
        <p:txBody>
          <a:bodyPr wrap="none" lIns="0" rIns="0" tIns="0" bIns="0" anchor="t">
            <a:spAutoFit/>
          </a:bodyPr>
          <a:lstStyle/>
          <a:p>
            <a:pPr>
              <a:lnSpc>
                <a:spcPts val="2304"/>
              </a:lnSpc>
              <a:spcBef>
                <a:spcPts val="0"/>
              </a:spcBef>
              <a:spcAft>
                <a:spcPts val="0"/>
              </a:spcAft>
              <a:defRPr sz="1800" b="0">
                <a:solidFill>
                  <a:srgbClr val="B7C6D8"/>
                </a:solidFill>
                <a:latin typeface="Arial"/>
              </a:defRPr>
            </a:pPr>
            <a:r>
              <a:t>One flight → many tickets. One passenger → tickets on different flights.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Database: protect booking relationships</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database.py • VS Code screenshot</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04</a:t>
            </a:r>
          </a:p>
        </p:txBody>
      </p:sp>
      <p:pic>
        <p:nvPicPr>
          <p:cNvPr id="7" name="Picture 6" descr="vscode_database_40_51.png"/>
          <p:cNvPicPr>
            <a:picLocks noChangeAspect="1"/>
          </p:cNvPicPr>
          <p:nvPr/>
        </p:nvPicPr>
        <p:blipFill>
          <a:blip r:embed="rId3"/>
          <a:stretch>
            <a:fillRect/>
          </a:stretch>
        </p:blipFill>
        <p:spPr>
          <a:xfrm>
            <a:off x="652863" y="1841500"/>
            <a:ext cx="10886273" cy="3492500"/>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Foreign keys require an existing flight and passenger. UNIQUE prevents duplicate seats and</a:t>
            </a:r>
          </a:p>
        </p:txBody>
      </p:sp>
      <p:sp>
        <p:nvSpPr>
          <p:cNvPr id="9" name="TextBox 8"/>
          <p:cNvSpPr txBox="1"/>
          <p:nvPr/>
        </p:nvSpPr>
        <p:spPr>
          <a:xfrm>
            <a:off x="533400" y="58166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duplicate passenger bookings on the same flight.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Initial data: created only once</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database.py • VS Code screenshot</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05</a:t>
            </a:r>
          </a:p>
        </p:txBody>
      </p:sp>
      <p:pic>
        <p:nvPicPr>
          <p:cNvPr id="7" name="Picture 6" descr="vscode_database_61_65.png"/>
          <p:cNvPicPr>
            <a:picLocks noChangeAspect="1"/>
          </p:cNvPicPr>
          <p:nvPr/>
        </p:nvPicPr>
        <p:blipFill>
          <a:blip r:embed="rId3"/>
          <a:stretch>
            <a:fillRect/>
          </a:stretch>
        </p:blipFill>
        <p:spPr>
          <a:xfrm>
            <a:off x="533400" y="1841500"/>
            <a:ext cx="11125200" cy="1598132"/>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seed() stops if any table contains records. A fully empty database receives 20 flights, 50</a:t>
            </a:r>
          </a:p>
        </p:txBody>
      </p:sp>
      <p:sp>
        <p:nvSpPr>
          <p:cNvPr id="9" name="TextBox 8"/>
          <p:cNvSpPr txBox="1"/>
          <p:nvPr/>
        </p:nvSpPr>
        <p:spPr>
          <a:xfrm>
            <a:off x="533400" y="58166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passengers and 40 tickets; random uses a fixed seed.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Start with the main menu</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Run: python3 main.py</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06</a:t>
            </a:r>
          </a:p>
        </p:txBody>
      </p:sp>
      <p:pic>
        <p:nvPicPr>
          <p:cNvPr id="7" name="Picture 6" descr="Screenshot 2026-10-18 at 17.56.11.png"/>
          <p:cNvPicPr>
            <a:picLocks noChangeAspect="1"/>
          </p:cNvPicPr>
          <p:nvPr/>
        </p:nvPicPr>
        <p:blipFill>
          <a:blip r:embed="rId3"/>
          <a:stretch>
            <a:fillRect/>
          </a:stretch>
        </p:blipFill>
        <p:spPr>
          <a:xfrm>
            <a:off x="3753469" y="1841500"/>
            <a:ext cx="4685060" cy="3492500"/>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Choose an operation from 1 to 7. The menu repeats after each action; 0 exits the program.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1. Add a flight</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Result: flight 21 • KC900 • 90 seats • 45,000 KZT</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07</a:t>
            </a:r>
          </a:p>
        </p:txBody>
      </p:sp>
      <p:pic>
        <p:nvPicPr>
          <p:cNvPr id="7" name="Picture 6" descr="Screenshot 2026-10-18 at 17.57.39.png"/>
          <p:cNvPicPr>
            <a:picLocks noChangeAspect="1"/>
          </p:cNvPicPr>
          <p:nvPr/>
        </p:nvPicPr>
        <p:blipFill>
          <a:blip r:embed="rId3"/>
          <a:stretch>
            <a:fillRect/>
          </a:stretch>
        </p:blipFill>
        <p:spPr>
          <a:xfrm>
            <a:off x="3075061" y="1841500"/>
            <a:ext cx="6041877" cy="3492500"/>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Add information → Flight. The user enters the route, departure, capacity and price. The</a:t>
            </a:r>
          </a:p>
        </p:txBody>
      </p:sp>
      <p:sp>
        <p:nvSpPr>
          <p:cNvPr id="9" name="TextBox 8"/>
          <p:cNvSpPr txBox="1"/>
          <p:nvPr/>
        </p:nvSpPr>
        <p:spPr>
          <a:xfrm>
            <a:off x="533400" y="58166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program confirms the new flight 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Code: validate and save the flight</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airline.py • VS Code screenshot</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08</a:t>
            </a:r>
          </a:p>
        </p:txBody>
      </p:sp>
      <p:pic>
        <p:nvPicPr>
          <p:cNvPr id="7" name="Picture 6" descr="Screenshot 2026-10-18 at 18.25.34.png"/>
          <p:cNvPicPr>
            <a:picLocks noChangeAspect="1"/>
          </p:cNvPicPr>
          <p:nvPr/>
        </p:nvPicPr>
        <p:blipFill>
          <a:blip r:embed="rId3"/>
          <a:stretch>
            <a:fillRect/>
          </a:stretch>
        </p:blipFill>
        <p:spPr>
          <a:xfrm>
            <a:off x="533400" y="1841500"/>
            <a:ext cx="11125200" cy="2756243"/>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add_flight() validates the supplied fields, then inserts them. The question marks receive</a:t>
            </a:r>
          </a:p>
        </p:txBody>
      </p:sp>
      <p:sp>
        <p:nvSpPr>
          <p:cNvPr id="9" name="TextBox 8"/>
          <p:cNvSpPr txBox="1"/>
          <p:nvPr/>
        </p:nvSpPr>
        <p:spPr>
          <a:xfrm>
            <a:off x="533400" y="58166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values separately; execute() commits and returns the new 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2. Add a passenger</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Result: passenger 51 • Lena Luka</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09</a:t>
            </a:r>
          </a:p>
        </p:txBody>
      </p:sp>
      <p:pic>
        <p:nvPicPr>
          <p:cNvPr id="7" name="Picture 6" descr="Screenshot 2026-10-18 at 17.58.28.png"/>
          <p:cNvPicPr>
            <a:picLocks noChangeAspect="1"/>
          </p:cNvPicPr>
          <p:nvPr/>
        </p:nvPicPr>
        <p:blipFill>
          <a:blip r:embed="rId3"/>
          <a:stretch>
            <a:fillRect/>
          </a:stretch>
        </p:blipFill>
        <p:spPr>
          <a:xfrm>
            <a:off x="3390826" y="1841500"/>
            <a:ext cx="5410346" cy="3492500"/>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Add information → Passenger. The name and email are saved as a passenger record. The</a:t>
            </a:r>
          </a:p>
        </p:txBody>
      </p:sp>
      <p:sp>
        <p:nvSpPr>
          <p:cNvPr id="9" name="TextBox 8"/>
          <p:cNvSpPr txBox="1"/>
          <p:nvPr/>
        </p:nvSpPr>
        <p:spPr>
          <a:xfrm>
            <a:off x="533400" y="58166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generated ID is used when booking tickets.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Code: validate passenger details</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airline.py • VS Code screenshot</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10</a:t>
            </a:r>
          </a:p>
        </p:txBody>
      </p:sp>
      <p:pic>
        <p:nvPicPr>
          <p:cNvPr id="7" name="Picture 6" descr="Screenshot 2026-10-18 at 18.25.54.png"/>
          <p:cNvPicPr>
            <a:picLocks noChangeAspect="1"/>
          </p:cNvPicPr>
          <p:nvPr/>
        </p:nvPicPr>
        <p:blipFill>
          <a:blip r:embed="rId3"/>
          <a:stretch>
            <a:fillRect/>
          </a:stretch>
        </p:blipFill>
        <p:spPr>
          <a:xfrm>
            <a:off x="533400" y="1841500"/>
            <a:ext cx="11125200" cy="1992373"/>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required_text() rejects empty input. Email is converted to lowercase; re.fullmatch() checks</a:t>
            </a:r>
          </a:p>
        </p:txBody>
      </p:sp>
      <p:sp>
        <p:nvSpPr>
          <p:cNvPr id="9" name="TextBox 8"/>
          <p:cNvSpPr txBox="1"/>
          <p:nvPr/>
        </p:nvSpPr>
        <p:spPr>
          <a:xfrm>
            <a:off x="533400" y="58166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its format. add_passenger() then saves the validated values.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3. Book a ticket: open the form</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Choose 1 — Add information, then 3 — Ticket.</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11</a:t>
            </a:r>
          </a:p>
        </p:txBody>
      </p:sp>
      <p:sp>
        <p:nvSpPr>
          <p:cNvPr id="7" name="TextBox 6"/>
          <p:cNvSpPr txBox="1"/>
          <p:nvPr/>
        </p:nvSpPr>
        <p:spPr>
          <a:xfrm>
            <a:off x="533400" y="1905000"/>
            <a:ext cx="11125200" cy="435864"/>
          </a:xfrm>
          <a:prstGeom prst="rect">
            <a:avLst/>
          </a:prstGeom>
          <a:noFill/>
        </p:spPr>
        <p:txBody>
          <a:bodyPr wrap="none" lIns="0" rIns="0" tIns="0" bIns="0" anchor="t">
            <a:spAutoFit/>
          </a:bodyPr>
          <a:lstStyle/>
          <a:p>
            <a:pPr>
              <a:lnSpc>
                <a:spcPts val="2432"/>
              </a:lnSpc>
              <a:spcBef>
                <a:spcPts val="0"/>
              </a:spcBef>
              <a:spcAft>
                <a:spcPts val="0"/>
              </a:spcAft>
              <a:defRPr sz="1900" b="1">
                <a:solidFill>
                  <a:srgbClr val="52D5C4"/>
                </a:solidFill>
                <a:latin typeface="Arial"/>
              </a:defRPr>
            </a:pPr>
            <a:r>
              <a:t>STEP 1 / Select the operation</a:t>
            </a:r>
          </a:p>
        </p:txBody>
      </p:sp>
      <p:pic>
        <p:nvPicPr>
          <p:cNvPr id="8" name="Picture 7" descr="ticket_menu.png"/>
          <p:cNvPicPr>
            <a:picLocks noChangeAspect="1"/>
          </p:cNvPicPr>
          <p:nvPr/>
        </p:nvPicPr>
        <p:blipFill>
          <a:blip r:embed="rId3"/>
          <a:stretch>
            <a:fillRect/>
          </a:stretch>
        </p:blipFill>
        <p:spPr>
          <a:xfrm>
            <a:off x="533400" y="2324100"/>
            <a:ext cx="7493000" cy="1123950"/>
          </a:xfrm>
          <a:prstGeom prst="rect">
            <a:avLst/>
          </a:prstGeom>
        </p:spPr>
      </p:pic>
      <p:sp>
        <p:nvSpPr>
          <p:cNvPr id="9" name="TextBox 8"/>
          <p:cNvSpPr txBox="1"/>
          <p:nvPr/>
        </p:nvSpPr>
        <p:spPr>
          <a:xfrm>
            <a:off x="533400" y="4279900"/>
            <a:ext cx="11125200" cy="435864"/>
          </a:xfrm>
          <a:prstGeom prst="rect">
            <a:avLst/>
          </a:prstGeom>
          <a:noFill/>
        </p:spPr>
        <p:txBody>
          <a:bodyPr wrap="none" lIns="0" rIns="0" tIns="0" bIns="0" anchor="t">
            <a:spAutoFit/>
          </a:bodyPr>
          <a:lstStyle/>
          <a:p>
            <a:pPr>
              <a:lnSpc>
                <a:spcPts val="2432"/>
              </a:lnSpc>
              <a:spcBef>
                <a:spcPts val="0"/>
              </a:spcBef>
              <a:spcAft>
                <a:spcPts val="0"/>
              </a:spcAft>
              <a:defRPr sz="1900" b="1">
                <a:solidFill>
                  <a:srgbClr val="52D5C4"/>
                </a:solidFill>
                <a:latin typeface="Arial"/>
              </a:defRPr>
            </a:pPr>
            <a:r>
              <a:t>STEP 2 / Find the flight in the displayed table</a:t>
            </a:r>
          </a:p>
        </p:txBody>
      </p:sp>
      <p:pic>
        <p:nvPicPr>
          <p:cNvPr id="10" name="Picture 9" descr="flight_header.png"/>
          <p:cNvPicPr>
            <a:picLocks noChangeAspect="1"/>
          </p:cNvPicPr>
          <p:nvPr/>
        </p:nvPicPr>
        <p:blipFill>
          <a:blip r:embed="rId4"/>
          <a:stretch>
            <a:fillRect/>
          </a:stretch>
        </p:blipFill>
        <p:spPr>
          <a:xfrm>
            <a:off x="844378" y="4711700"/>
            <a:ext cx="10503243" cy="571500"/>
          </a:xfrm>
          <a:prstGeom prst="rect">
            <a:avLst/>
          </a:prstGeom>
        </p:spPr>
      </p:pic>
      <p:pic>
        <p:nvPicPr>
          <p:cNvPr id="11" name="Picture 10" descr="selected_flight.png"/>
          <p:cNvPicPr>
            <a:picLocks noChangeAspect="1"/>
          </p:cNvPicPr>
          <p:nvPr/>
        </p:nvPicPr>
        <p:blipFill>
          <a:blip r:embed="rId5"/>
          <a:stretch>
            <a:fillRect/>
          </a:stretch>
        </p:blipFill>
        <p:spPr>
          <a:xfrm>
            <a:off x="533399" y="5257800"/>
            <a:ext cx="11125200" cy="335392"/>
          </a:xfrm>
          <a:prstGeom prst="rect">
            <a:avLst/>
          </a:prstGeom>
        </p:spPr>
      </p:pic>
      <p:sp>
        <p:nvSpPr>
          <p:cNvPr id="12" name="TextBox 11"/>
          <p:cNvSpPr txBox="1"/>
          <p:nvPr/>
        </p:nvSpPr>
        <p:spPr>
          <a:xfrm>
            <a:off x="533400" y="5816600"/>
            <a:ext cx="11125200" cy="419608"/>
          </a:xfrm>
          <a:prstGeom prst="rect">
            <a:avLst/>
          </a:prstGeom>
          <a:noFill/>
        </p:spPr>
        <p:txBody>
          <a:bodyPr wrap="none" lIns="0" rIns="0" tIns="0" bIns="0" anchor="t">
            <a:spAutoFit/>
          </a:bodyPr>
          <a:lstStyle/>
          <a:p>
            <a:pPr>
              <a:lnSpc>
                <a:spcPts val="2304"/>
              </a:lnSpc>
              <a:spcBef>
                <a:spcPts val="0"/>
              </a:spcBef>
              <a:spcAft>
                <a:spcPts val="0"/>
              </a:spcAft>
              <a:defRPr sz="1800" b="0">
                <a:solidFill>
                  <a:srgbClr val="B7C6D8"/>
                </a:solidFill>
                <a:latin typeface="Arial"/>
              </a:defRPr>
            </a:pPr>
            <a:r>
              <a:t>Flight KC900 has ID 21 → enter 21 at the Flight ID prompt.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3. Book a ticket: choose the passenger</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Use the ID column, not the passenger name or the row position.</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12</a:t>
            </a:r>
          </a:p>
        </p:txBody>
      </p:sp>
      <p:sp>
        <p:nvSpPr>
          <p:cNvPr id="7" name="TextBox 6"/>
          <p:cNvSpPr txBox="1"/>
          <p:nvPr/>
        </p:nvSpPr>
        <p:spPr>
          <a:xfrm>
            <a:off x="533400" y="1955800"/>
            <a:ext cx="11125200" cy="435864"/>
          </a:xfrm>
          <a:prstGeom prst="rect">
            <a:avLst/>
          </a:prstGeom>
          <a:noFill/>
        </p:spPr>
        <p:txBody>
          <a:bodyPr wrap="none" lIns="0" rIns="0" tIns="0" bIns="0" anchor="t">
            <a:spAutoFit/>
          </a:bodyPr>
          <a:lstStyle/>
          <a:p>
            <a:pPr>
              <a:lnSpc>
                <a:spcPts val="2432"/>
              </a:lnSpc>
              <a:spcBef>
                <a:spcPts val="0"/>
              </a:spcBef>
              <a:spcAft>
                <a:spcPts val="0"/>
              </a:spcAft>
              <a:defRPr sz="1900" b="1">
                <a:solidFill>
                  <a:srgbClr val="52D5C4"/>
                </a:solidFill>
                <a:latin typeface="Arial"/>
              </a:defRPr>
            </a:pPr>
            <a:r>
              <a:t>STEP 3 / Find the passenger in the displayed table</a:t>
            </a:r>
          </a:p>
        </p:txBody>
      </p:sp>
      <p:pic>
        <p:nvPicPr>
          <p:cNvPr id="8" name="Picture 7" descr="passenger_header.png"/>
          <p:cNvPicPr>
            <a:picLocks noChangeAspect="1"/>
          </p:cNvPicPr>
          <p:nvPr/>
        </p:nvPicPr>
        <p:blipFill>
          <a:blip r:embed="rId3"/>
          <a:stretch>
            <a:fillRect/>
          </a:stretch>
        </p:blipFill>
        <p:spPr>
          <a:xfrm>
            <a:off x="2059214" y="2476500"/>
            <a:ext cx="8073571" cy="825500"/>
          </a:xfrm>
          <a:prstGeom prst="rect">
            <a:avLst/>
          </a:prstGeom>
        </p:spPr>
      </p:pic>
      <p:pic>
        <p:nvPicPr>
          <p:cNvPr id="9" name="Picture 8" descr="selected_passenger.png"/>
          <p:cNvPicPr>
            <a:picLocks noChangeAspect="1"/>
          </p:cNvPicPr>
          <p:nvPr/>
        </p:nvPicPr>
        <p:blipFill>
          <a:blip r:embed="rId4"/>
          <a:stretch>
            <a:fillRect/>
          </a:stretch>
        </p:blipFill>
        <p:spPr>
          <a:xfrm>
            <a:off x="533400" y="3441700"/>
            <a:ext cx="11125200" cy="557620"/>
          </a:xfrm>
          <a:prstGeom prst="rect">
            <a:avLst/>
          </a:prstGeom>
        </p:spPr>
      </p:pic>
      <p:sp>
        <p:nvSpPr>
          <p:cNvPr id="10" name="TextBox 9"/>
          <p:cNvSpPr txBox="1"/>
          <p:nvPr/>
        </p:nvSpPr>
        <p:spPr>
          <a:xfrm>
            <a:off x="533400" y="4508500"/>
            <a:ext cx="11125200" cy="565912"/>
          </a:xfrm>
          <a:prstGeom prst="rect">
            <a:avLst/>
          </a:prstGeom>
          <a:noFill/>
        </p:spPr>
        <p:txBody>
          <a:bodyPr wrap="none" lIns="0" rIns="0" tIns="0" bIns="0" anchor="t">
            <a:spAutoFit/>
          </a:bodyPr>
          <a:lstStyle/>
          <a:p>
            <a:pPr>
              <a:lnSpc>
                <a:spcPts val="3456"/>
              </a:lnSpc>
              <a:spcBef>
                <a:spcPts val="0"/>
              </a:spcBef>
              <a:spcAft>
                <a:spcPts val="0"/>
              </a:spcAft>
              <a:defRPr sz="2700" b="1">
                <a:solidFill>
                  <a:srgbClr val="52D5C4"/>
                </a:solidFill>
                <a:latin typeface="Arial"/>
              </a:defRPr>
            </a:pPr>
            <a:r>
              <a:t>Passenger ID = 51</a:t>
            </a:r>
          </a:p>
        </p:txBody>
      </p:sp>
      <p:sp>
        <p:nvSpPr>
          <p:cNvPr id="11" name="TextBox 10"/>
          <p:cNvSpPr txBox="1"/>
          <p:nvPr/>
        </p:nvSpPr>
        <p:spPr>
          <a:xfrm>
            <a:off x="533400" y="5092700"/>
            <a:ext cx="11125200" cy="435864"/>
          </a:xfrm>
          <a:prstGeom prst="rect">
            <a:avLst/>
          </a:prstGeom>
          <a:noFill/>
        </p:spPr>
        <p:txBody>
          <a:bodyPr wrap="none" lIns="0" rIns="0" tIns="0" bIns="0" anchor="t">
            <a:spAutoFit/>
          </a:bodyPr>
          <a:lstStyle/>
          <a:p>
            <a:pPr>
              <a:lnSpc>
                <a:spcPts val="2432"/>
              </a:lnSpc>
              <a:spcBef>
                <a:spcPts val="0"/>
              </a:spcBef>
              <a:spcAft>
                <a:spcPts val="0"/>
              </a:spcAft>
              <a:defRPr sz="1900" b="0">
                <a:solidFill>
                  <a:srgbClr val="F4F7FB"/>
                </a:solidFill>
                <a:latin typeface="Arial"/>
              </a:defRPr>
            </a:pPr>
            <a:r>
              <a:t>Next: enter Flight ID 21, Passenger ID 51 and an available seat.</a:t>
            </a:r>
          </a:p>
        </p:txBody>
      </p:sp>
      <p:sp>
        <p:nvSpPr>
          <p:cNvPr id="12" name="TextBox 11"/>
          <p:cNvSpPr txBox="1"/>
          <p:nvPr/>
        </p:nvSpPr>
        <p:spPr>
          <a:xfrm>
            <a:off x="533400" y="56769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The name is Lena Nika after the update; the passenger ID stays 51.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3. Book a ticket: save the booking</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Result: ticket 43 • flight 21 • passenger 51 • seat 2</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13</a:t>
            </a:r>
          </a:p>
        </p:txBody>
      </p:sp>
      <p:pic>
        <p:nvPicPr>
          <p:cNvPr id="7" name="Picture 6" descr="Screenshot 2026-10-18 at 18.45.22.png"/>
          <p:cNvPicPr>
            <a:picLocks noChangeAspect="1"/>
          </p:cNvPicPr>
          <p:nvPr/>
        </p:nvPicPr>
        <p:blipFill>
          <a:blip r:embed="rId3"/>
          <a:stretch>
            <a:fillRect/>
          </a:stretch>
        </p:blipFill>
        <p:spPr>
          <a:xfrm>
            <a:off x="1669103" y="1841500"/>
            <a:ext cx="8853793" cy="3492500"/>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Seat 1 is already booked. Passenger 51 selects available seat 2 on flight 21. The program</a:t>
            </a:r>
          </a:p>
        </p:txBody>
      </p:sp>
      <p:sp>
        <p:nvSpPr>
          <p:cNvPr id="9" name="TextBox 8"/>
          <p:cNvSpPr txBox="1"/>
          <p:nvPr/>
        </p:nvSpPr>
        <p:spPr>
          <a:xfrm>
            <a:off x="533400" y="58166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saves the booking and returns ticket ID 43.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Code: check the seat before saving</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airline.py • VS Code screenshot</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14</a:t>
            </a:r>
          </a:p>
        </p:txBody>
      </p:sp>
      <p:pic>
        <p:nvPicPr>
          <p:cNvPr id="7" name="Picture 6" descr="Screenshot 2026-10-18 at 18.26.06.png"/>
          <p:cNvPicPr>
            <a:picLocks noChangeAspect="1"/>
          </p:cNvPicPr>
          <p:nvPr/>
        </p:nvPicPr>
        <p:blipFill>
          <a:blip r:embed="rId3"/>
          <a:stretch>
            <a:fillRect/>
          </a:stretch>
        </p:blipFill>
        <p:spPr>
          <a:xfrm>
            <a:off x="2219414" y="1841500"/>
            <a:ext cx="7753171" cy="3492500"/>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check_booking() checks IDs, the seat range, occupied seats and repeat passenger bookings. A</a:t>
            </a:r>
          </a:p>
        </p:txBody>
      </p:sp>
      <p:sp>
        <p:nvSpPr>
          <p:cNvPr id="9" name="TextBox 8"/>
          <p:cNvSpPr txBox="1"/>
          <p:nvPr/>
        </p:nvSpPr>
        <p:spPr>
          <a:xfrm>
            <a:off x="533400" y="58166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conflict raises ValueError; otherwise the flight is returned.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Code: save the ticket and its price</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airline.py • VS Code screenshot</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15</a:t>
            </a:r>
          </a:p>
        </p:txBody>
      </p:sp>
      <p:pic>
        <p:nvPicPr>
          <p:cNvPr id="7" name="Picture 6" descr="Screenshot 2026-10-18 at 18.26.14.png"/>
          <p:cNvPicPr>
            <a:picLocks noChangeAspect="1"/>
          </p:cNvPicPr>
          <p:nvPr/>
        </p:nvPicPr>
        <p:blipFill>
          <a:blip r:embed="rId3"/>
          <a:stretch>
            <a:fillRect/>
          </a:stretch>
        </p:blipFill>
        <p:spPr>
          <a:xfrm>
            <a:off x="533400" y="1841500"/>
            <a:ext cx="11125200" cy="2450811"/>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add_ticket() runs the checks, then stores the flight, passenger, seat and current price.</a:t>
            </a:r>
          </a:p>
        </p:txBody>
      </p:sp>
      <p:sp>
        <p:nvSpPr>
          <p:cNvPr id="9" name="TextBox 8"/>
          <p:cNvSpPr txBox="1"/>
          <p:nvPr/>
        </p:nvSpPr>
        <p:spPr>
          <a:xfrm>
            <a:off x="533400" y="58166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Later changes to the flight price do not alter this ticket price.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4. Search for a passenger</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Query: Lena → passenger 51, Lena Luka</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16</a:t>
            </a:r>
          </a:p>
        </p:txBody>
      </p:sp>
      <p:pic>
        <p:nvPicPr>
          <p:cNvPr id="7" name="Picture 6" descr="Screenshot 2026-10-18 at 18.01.01.png"/>
          <p:cNvPicPr>
            <a:picLocks noChangeAspect="1"/>
          </p:cNvPicPr>
          <p:nvPr/>
        </p:nvPicPr>
        <p:blipFill>
          <a:blip r:embed="rId3"/>
          <a:stretch>
            <a:fillRect/>
          </a:stretch>
        </p:blipFill>
        <p:spPr>
          <a:xfrm>
            <a:off x="2921933" y="1841500"/>
            <a:ext cx="6348132" cy="3492500"/>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Search → Passenger by name or ID. A partial name is enough; matching is case-insensitive.</a:t>
            </a:r>
          </a:p>
        </p:txBody>
      </p:sp>
      <p:sp>
        <p:nvSpPr>
          <p:cNvPr id="9" name="TextBox 8"/>
          <p:cNvSpPr txBox="1"/>
          <p:nvPr/>
        </p:nvSpPr>
        <p:spPr>
          <a:xfrm>
            <a:off x="533400" y="58166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The result displays ID, name and email.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5. Search flights by destination</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Query: Karaganda → flight KC900, one booked seat</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17</a:t>
            </a:r>
          </a:p>
        </p:txBody>
      </p:sp>
      <p:pic>
        <p:nvPicPr>
          <p:cNvPr id="7" name="Picture 6" descr="Screenshot 2026-10-18 at 18.01.24.png"/>
          <p:cNvPicPr>
            <a:picLocks noChangeAspect="1"/>
          </p:cNvPicPr>
          <p:nvPr/>
        </p:nvPicPr>
        <p:blipFill>
          <a:blip r:embed="rId3"/>
          <a:stretch>
            <a:fillRect/>
          </a:stretch>
        </p:blipFill>
        <p:spPr>
          <a:xfrm>
            <a:off x="533400" y="1841500"/>
            <a:ext cx="11125200" cy="2929466"/>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Search → Flights by destination. The result shows the route, departure, capacity, price and</a:t>
            </a:r>
          </a:p>
        </p:txBody>
      </p:sp>
      <p:sp>
        <p:nvSpPr>
          <p:cNvPr id="9" name="TextBox 8"/>
          <p:cNvSpPr txBox="1"/>
          <p:nvPr/>
        </p:nvSpPr>
        <p:spPr>
          <a:xfrm>
            <a:off x="533400" y="58166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number of booked tickets.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Code: search and handle missing records</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Passenger search uses SQL; the display function handles an empty result.</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18</a:t>
            </a:r>
          </a:p>
        </p:txBody>
      </p:sp>
      <p:pic>
        <p:nvPicPr>
          <p:cNvPr id="7" name="Picture 6" descr="Screenshot 2026-10-18 at 18.26.22.png"/>
          <p:cNvPicPr>
            <a:picLocks noChangeAspect="1"/>
          </p:cNvPicPr>
          <p:nvPr/>
        </p:nvPicPr>
        <p:blipFill>
          <a:blip r:embed="rId3"/>
          <a:stretch>
            <a:fillRect/>
          </a:stretch>
        </p:blipFill>
        <p:spPr>
          <a:xfrm>
            <a:off x="1638165" y="1841500"/>
            <a:ext cx="8915668" cy="2070100"/>
          </a:xfrm>
          <a:prstGeom prst="rect">
            <a:avLst/>
          </a:prstGeom>
        </p:spPr>
      </p:pic>
      <p:pic>
        <p:nvPicPr>
          <p:cNvPr id="8" name="Picture 7" descr="Screenshot 2026-10-18 at 18.01.44.png"/>
          <p:cNvPicPr>
            <a:picLocks noChangeAspect="1"/>
          </p:cNvPicPr>
          <p:nvPr/>
        </p:nvPicPr>
        <p:blipFill>
          <a:blip r:embed="rId4"/>
          <a:stretch>
            <a:fillRect/>
          </a:stretch>
        </p:blipFill>
        <p:spPr>
          <a:xfrm>
            <a:off x="582318" y="4089400"/>
            <a:ext cx="4474162" cy="1841500"/>
          </a:xfrm>
          <a:prstGeom prst="rect">
            <a:avLst/>
          </a:prstGeom>
        </p:spPr>
      </p:pic>
      <p:sp>
        <p:nvSpPr>
          <p:cNvPr id="9" name="TextBox 8"/>
          <p:cNvSpPr txBox="1"/>
          <p:nvPr/>
        </p:nvSpPr>
        <p:spPr>
          <a:xfrm>
            <a:off x="5461000" y="4343400"/>
            <a:ext cx="6197600" cy="1297432"/>
          </a:xfrm>
          <a:prstGeom prst="rect">
            <a:avLst/>
          </a:prstGeom>
          <a:noFill/>
        </p:spPr>
        <p:txBody>
          <a:bodyPr wrap="none" lIns="0" rIns="0" tIns="0" bIns="0" anchor="t">
            <a:spAutoFit/>
          </a:bodyPr>
          <a:lstStyle/>
          <a:p>
            <a:pPr>
              <a:lnSpc>
                <a:spcPts val="2304"/>
              </a:lnSpc>
              <a:spcBef>
                <a:spcPts val="0"/>
              </a:spcBef>
              <a:spcAft>
                <a:spcPts val="0"/>
              </a:spcAft>
              <a:defRPr sz="1800" b="0">
                <a:solidFill>
                  <a:srgbClr val="B7C6D8"/>
                </a:solidFill>
                <a:latin typeface="Arial"/>
              </a:defRPr>
            </a:pPr>
            <a:r>
              <a:t>CAST compares ID as text.</a:t>
            </a:r>
          </a:p>
          <a:p>
            <a:pPr>
              <a:lnSpc>
                <a:spcPts val="2304"/>
              </a:lnSpc>
              <a:spcBef>
                <a:spcPts val="0"/>
              </a:spcBef>
              <a:spcAft>
                <a:spcPts val="0"/>
              </a:spcAft>
              <a:defRPr sz="1800" b="0">
                <a:solidFill>
                  <a:srgbClr val="B7C6D8"/>
                </a:solidFill>
                <a:latin typeface="Arial"/>
              </a:defRPr>
            </a:pPr>
            <a:r>
              <a:t>casefold ignores letter case.</a:t>
            </a:r>
          </a:p>
          <a:p>
            <a:pPr>
              <a:lnSpc>
                <a:spcPts val="2304"/>
              </a:lnSpc>
              <a:spcBef>
                <a:spcPts val="0"/>
              </a:spcBef>
              <a:spcAft>
                <a:spcPts val="0"/>
              </a:spcAft>
              <a:defRPr sz="1800" b="0">
                <a:solidFill>
                  <a:srgbClr val="B7C6D8"/>
                </a:solidFill>
                <a:latin typeface="Arial"/>
              </a:defRPr>
            </a:pPr>
            <a:r>
              <a:t>instr finds part of a name.</a:t>
            </a:r>
          </a:p>
          <a:p>
            <a:pPr>
              <a:lnSpc>
                <a:spcPts val="2304"/>
              </a:lnSpc>
              <a:spcBef>
                <a:spcPts val="0"/>
              </a:spcBef>
              <a:spcAft>
                <a:spcPts val="0"/>
              </a:spcAft>
              <a:defRPr sz="1800" b="0">
                <a:solidFill>
                  <a:srgbClr val="B7C6D8"/>
                </a:solidFill>
                <a:latin typeface="Arial"/>
              </a:defRPr>
            </a:pPr>
            <a:r>
              <a:t>Empty rows → No records found.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6. Update a passenger</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Passenger 51: Lena Luka → Lena Nika</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19</a:t>
            </a:r>
          </a:p>
        </p:txBody>
      </p:sp>
      <p:pic>
        <p:nvPicPr>
          <p:cNvPr id="7" name="Picture 6" descr="Screenshot 2026-10-18 at 18.02.30.png"/>
          <p:cNvPicPr>
            <a:picLocks noChangeAspect="1"/>
          </p:cNvPicPr>
          <p:nvPr/>
        </p:nvPicPr>
        <p:blipFill>
          <a:blip r:embed="rId3"/>
          <a:stretch>
            <a:fillRect/>
          </a:stretch>
        </p:blipFill>
        <p:spPr>
          <a:xfrm>
            <a:off x="3853815" y="1841500"/>
            <a:ext cx="4484370" cy="3492500"/>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Update → Passenger. The program shows the old record, accepts replacement fields and</a:t>
            </a:r>
          </a:p>
        </p:txBody>
      </p:sp>
      <p:sp>
        <p:nvSpPr>
          <p:cNvPr id="9" name="TextBox 8"/>
          <p:cNvSpPr txBox="1"/>
          <p:nvPr/>
        </p:nvSpPr>
        <p:spPr>
          <a:xfrm>
            <a:off x="533400" y="58166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confirms the update. airline.py: update_passenger() runs UPDATE.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7. Cancel a ticket</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Result: ticket 41 deleted after confirmation</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20</a:t>
            </a:r>
          </a:p>
        </p:txBody>
      </p:sp>
      <p:pic>
        <p:nvPicPr>
          <p:cNvPr id="7" name="Picture 6" descr="Screenshot 2026-10-18 at 18.03.53.png"/>
          <p:cNvPicPr>
            <a:picLocks noChangeAspect="1"/>
          </p:cNvPicPr>
          <p:nvPr/>
        </p:nvPicPr>
        <p:blipFill>
          <a:blip r:embed="rId3"/>
          <a:stretch>
            <a:fillRect/>
          </a:stretch>
        </p:blipFill>
        <p:spPr>
          <a:xfrm>
            <a:off x="2794869" y="1841500"/>
            <a:ext cx="6602260" cy="3492500"/>
          </a:xfrm>
          <a:prstGeom prst="rect">
            <a:avLst/>
          </a:prstGeom>
        </p:spPr>
      </p:pic>
      <p:sp>
        <p:nvSpPr>
          <p:cNvPr id="8" name="TextBox 7"/>
          <p:cNvSpPr txBox="1"/>
          <p:nvPr/>
        </p:nvSpPr>
        <p:spPr>
          <a:xfrm>
            <a:off x="533400" y="5524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Delete or cancel → Ticket → ID 41 → yes. This is a separate ticket on flight 1, not ticket</a:t>
            </a:r>
          </a:p>
        </p:txBody>
      </p:sp>
      <p:sp>
        <p:nvSpPr>
          <p:cNvPr id="9" name="TextBox 8"/>
          <p:cNvSpPr txBox="1"/>
          <p:nvPr/>
        </p:nvSpPr>
        <p:spPr>
          <a:xfrm>
            <a:off x="533400" y="58166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43 from the booking example. delete_record() removes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8. Calculate results and export</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Recorded session: statistics before cancellation, then export through option 7.</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21</a:t>
            </a:r>
          </a:p>
        </p:txBody>
      </p:sp>
      <p:pic>
        <p:nvPicPr>
          <p:cNvPr id="7" name="Picture 6" descr="Screenshot 2026-10-18 at 18.02.44.png"/>
          <p:cNvPicPr>
            <a:picLocks noChangeAspect="1"/>
          </p:cNvPicPr>
          <p:nvPr/>
        </p:nvPicPr>
        <p:blipFill>
          <a:blip r:embed="rId3"/>
          <a:stretch>
            <a:fillRect/>
          </a:stretch>
        </p:blipFill>
        <p:spPr>
          <a:xfrm>
            <a:off x="533400" y="1841500"/>
            <a:ext cx="5842000" cy="2318253"/>
          </a:xfrm>
          <a:prstGeom prst="rect">
            <a:avLst/>
          </a:prstGeom>
        </p:spPr>
      </p:pic>
      <p:sp>
        <p:nvSpPr>
          <p:cNvPr id="8" name="TextBox 7"/>
          <p:cNvSpPr txBox="1"/>
          <p:nvPr/>
        </p:nvSpPr>
        <p:spPr>
          <a:xfrm>
            <a:off x="6731000" y="2006600"/>
            <a:ext cx="4889500" cy="452120"/>
          </a:xfrm>
          <a:prstGeom prst="rect">
            <a:avLst/>
          </a:prstGeom>
          <a:noFill/>
        </p:spPr>
        <p:txBody>
          <a:bodyPr wrap="none" lIns="0" rIns="0" tIns="0" bIns="0" anchor="t">
            <a:spAutoFit/>
          </a:bodyPr>
          <a:lstStyle/>
          <a:p>
            <a:pPr>
              <a:lnSpc>
                <a:spcPts val="2560"/>
              </a:lnSpc>
              <a:spcBef>
                <a:spcPts val="0"/>
              </a:spcBef>
              <a:spcAft>
                <a:spcPts val="0"/>
              </a:spcAft>
              <a:defRPr sz="2000" b="1">
                <a:solidFill>
                  <a:srgbClr val="52D5C4"/>
                </a:solidFill>
                <a:latin typeface="Arial"/>
              </a:defRPr>
            </a:pPr>
            <a:r>
              <a:t>Revenue = SUM(ticket prices)</a:t>
            </a:r>
          </a:p>
        </p:txBody>
      </p:sp>
      <p:sp>
        <p:nvSpPr>
          <p:cNvPr id="9" name="TextBox 8"/>
          <p:cNvSpPr txBox="1"/>
          <p:nvPr/>
        </p:nvSpPr>
        <p:spPr>
          <a:xfrm>
            <a:off x="6731000" y="2578100"/>
            <a:ext cx="4889500" cy="565912"/>
          </a:xfrm>
          <a:prstGeom prst="rect">
            <a:avLst/>
          </a:prstGeom>
          <a:noFill/>
        </p:spPr>
        <p:txBody>
          <a:bodyPr wrap="none" lIns="0" rIns="0" tIns="0" bIns="0" anchor="t">
            <a:spAutoFit/>
          </a:bodyPr>
          <a:lstStyle/>
          <a:p>
            <a:pPr>
              <a:lnSpc>
                <a:spcPts val="3456"/>
              </a:lnSpc>
              <a:spcBef>
                <a:spcPts val="0"/>
              </a:spcBef>
              <a:spcAft>
                <a:spcPts val="0"/>
              </a:spcAft>
              <a:defRPr sz="2700" b="1">
                <a:solidFill>
                  <a:srgbClr val="F4F7FB"/>
                </a:solidFill>
                <a:latin typeface="Arial"/>
              </a:defRPr>
            </a:pPr>
            <a:r>
              <a:t>2,494,000 KZT</a:t>
            </a:r>
          </a:p>
        </p:txBody>
      </p:sp>
      <p:sp>
        <p:nvSpPr>
          <p:cNvPr id="10" name="TextBox 9"/>
          <p:cNvSpPr txBox="1"/>
          <p:nvPr/>
        </p:nvSpPr>
        <p:spPr>
          <a:xfrm>
            <a:off x="6731000" y="3225800"/>
            <a:ext cx="4889500" cy="435864"/>
          </a:xfrm>
          <a:prstGeom prst="rect">
            <a:avLst/>
          </a:prstGeom>
          <a:noFill/>
        </p:spPr>
        <p:txBody>
          <a:bodyPr wrap="none" lIns="0" rIns="0" tIns="0" bIns="0" anchor="t">
            <a:spAutoFit/>
          </a:bodyPr>
          <a:lstStyle/>
          <a:p>
            <a:pPr>
              <a:lnSpc>
                <a:spcPts val="2432"/>
              </a:lnSpc>
              <a:spcBef>
                <a:spcPts val="0"/>
              </a:spcBef>
              <a:spcAft>
                <a:spcPts val="0"/>
              </a:spcAft>
              <a:defRPr sz="1900" b="0">
                <a:solidFill>
                  <a:srgbClr val="52D5C4"/>
                </a:solidFill>
                <a:latin typeface="Arial"/>
              </a:defRPr>
            </a:pPr>
            <a:r>
              <a:t>Occupancy = 42 / 1601 × 100</a:t>
            </a:r>
          </a:p>
        </p:txBody>
      </p:sp>
      <p:sp>
        <p:nvSpPr>
          <p:cNvPr id="11" name="TextBox 10"/>
          <p:cNvSpPr txBox="1"/>
          <p:nvPr/>
        </p:nvSpPr>
        <p:spPr>
          <a:xfrm>
            <a:off x="6731000" y="3695700"/>
            <a:ext cx="4889500" cy="565912"/>
          </a:xfrm>
          <a:prstGeom prst="rect">
            <a:avLst/>
          </a:prstGeom>
          <a:noFill/>
        </p:spPr>
        <p:txBody>
          <a:bodyPr wrap="none" lIns="0" rIns="0" tIns="0" bIns="0" anchor="t">
            <a:spAutoFit/>
          </a:bodyPr>
          <a:lstStyle/>
          <a:p>
            <a:pPr>
              <a:lnSpc>
                <a:spcPts val="3456"/>
              </a:lnSpc>
              <a:spcBef>
                <a:spcPts val="0"/>
              </a:spcBef>
              <a:spcAft>
                <a:spcPts val="0"/>
              </a:spcAft>
              <a:defRPr sz="2700" b="1">
                <a:solidFill>
                  <a:srgbClr val="F4F7FB"/>
                </a:solidFill>
                <a:latin typeface="Arial"/>
              </a:defRPr>
            </a:pPr>
            <a:r>
              <a:t>2.62%</a:t>
            </a:r>
          </a:p>
        </p:txBody>
      </p:sp>
      <p:pic>
        <p:nvPicPr>
          <p:cNvPr id="12" name="Picture 11" descr="Screenshot 2026-10-18 at 18.02.59.png"/>
          <p:cNvPicPr>
            <a:picLocks noChangeAspect="1"/>
          </p:cNvPicPr>
          <p:nvPr/>
        </p:nvPicPr>
        <p:blipFill>
          <a:blip r:embed="rId4"/>
          <a:stretch>
            <a:fillRect/>
          </a:stretch>
        </p:blipFill>
        <p:spPr>
          <a:xfrm>
            <a:off x="2192215" y="4775200"/>
            <a:ext cx="7807569" cy="685800"/>
          </a:xfrm>
          <a:prstGeom prst="rect">
            <a:avLst/>
          </a:prstGeom>
        </p:spPr>
      </p:pic>
      <p:sp>
        <p:nvSpPr>
          <p:cNvPr id="13" name="TextBox 12"/>
          <p:cNvSpPr txBox="1"/>
          <p:nvPr/>
        </p:nvSpPr>
        <p:spPr>
          <a:xfrm>
            <a:off x="533400" y="5651500"/>
            <a:ext cx="111252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statistics() calculates metrics; export_results() saves records and results.txt.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1B2B"/>
        </a:solidFill>
        <a:effectLst/>
      </p:bgPr>
    </p:bg>
    <p:spTree>
      <p:nvGrpSpPr>
        <p:cNvPr id="1" name=""/>
        <p:cNvGrpSpPr/>
        <p:nvPr/>
      </p:nvGrpSpPr>
      <p:grpSpPr/>
      <p:sp>
        <p:nvSpPr>
          <p:cNvPr id="2" name="TextBox 1"/>
          <p:cNvSpPr txBox="1"/>
          <p:nvPr/>
        </p:nvSpPr>
        <p:spPr>
          <a:xfrm>
            <a:off x="533400" y="279400"/>
            <a:ext cx="11049000" cy="305816"/>
          </a:xfrm>
          <a:prstGeom prst="rect">
            <a:avLst/>
          </a:prstGeom>
          <a:noFill/>
        </p:spPr>
        <p:txBody>
          <a:bodyPr wrap="none" lIns="0" rIns="0" tIns="0" bIns="0" anchor="t">
            <a:spAutoFit/>
          </a:bodyPr>
          <a:lstStyle/>
          <a:p>
            <a:pPr>
              <a:lnSpc>
                <a:spcPts val="1408"/>
              </a:lnSpc>
              <a:spcBef>
                <a:spcPts val="0"/>
              </a:spcBef>
              <a:spcAft>
                <a:spcPts val="0"/>
              </a:spcAft>
              <a:defRPr sz="1100" b="1">
                <a:solidFill>
                  <a:srgbClr val="52D5C4"/>
                </a:solidFill>
                <a:latin typeface="Arial"/>
              </a:defRPr>
            </a:pPr>
            <a:r>
              <a:t>AIRLINE RESERVATION SYSTEM</a:t>
            </a:r>
          </a:p>
        </p:txBody>
      </p:sp>
      <p:sp>
        <p:nvSpPr>
          <p:cNvPr id="3" name="TextBox 2"/>
          <p:cNvSpPr txBox="1"/>
          <p:nvPr/>
        </p:nvSpPr>
        <p:spPr>
          <a:xfrm>
            <a:off x="533400" y="723900"/>
            <a:ext cx="11176000" cy="647192"/>
          </a:xfrm>
          <a:prstGeom prst="rect">
            <a:avLst/>
          </a:prstGeom>
          <a:noFill/>
        </p:spPr>
        <p:txBody>
          <a:bodyPr wrap="none" lIns="0" rIns="0" tIns="0" bIns="0" anchor="t">
            <a:spAutoFit/>
          </a:bodyPr>
          <a:lstStyle/>
          <a:p>
            <a:pPr>
              <a:lnSpc>
                <a:spcPts val="4096"/>
              </a:lnSpc>
              <a:spcBef>
                <a:spcPts val="0"/>
              </a:spcBef>
              <a:spcAft>
                <a:spcPts val="0"/>
              </a:spcAft>
              <a:defRPr sz="3200" b="1">
                <a:solidFill>
                  <a:srgbClr val="F4F7FB"/>
                </a:solidFill>
                <a:latin typeface="Arial"/>
              </a:defRPr>
            </a:pPr>
            <a:r>
              <a:t>Our contributions and what we learned</a:t>
            </a:r>
          </a:p>
        </p:txBody>
      </p:sp>
      <p:sp>
        <p:nvSpPr>
          <p:cNvPr id="4" name="TextBox 3"/>
          <p:cNvSpPr txBox="1"/>
          <p:nvPr/>
        </p:nvSpPr>
        <p:spPr>
          <a:xfrm>
            <a:off x="533400" y="1346200"/>
            <a:ext cx="11176000" cy="387096"/>
          </a:xfrm>
          <a:prstGeom prst="rect">
            <a:avLst/>
          </a:prstGeom>
          <a:noFill/>
        </p:spPr>
        <p:txBody>
          <a:bodyPr wrap="none" lIns="0" rIns="0" tIns="0" bIns="0" anchor="t">
            <a:spAutoFit/>
          </a:bodyPr>
          <a:lstStyle/>
          <a:p>
            <a:pPr>
              <a:lnSpc>
                <a:spcPts val="2048"/>
              </a:lnSpc>
              <a:spcBef>
                <a:spcPts val="0"/>
              </a:spcBef>
              <a:spcAft>
                <a:spcPts val="0"/>
              </a:spcAft>
              <a:defRPr sz="1600" b="0">
                <a:solidFill>
                  <a:srgbClr val="B7C6D8"/>
                </a:solidFill>
                <a:latin typeface="Arial"/>
              </a:defRPr>
            </a:pPr>
            <a:r>
              <a:t>Two classes • three related tables • CRUD • search • calculations • file export</a:t>
            </a:r>
          </a:p>
        </p:txBody>
      </p:sp>
      <p:sp>
        <p:nvSpPr>
          <p:cNvPr id="5" name="Rectangle 4"/>
          <p:cNvSpPr/>
          <p:nvPr/>
        </p:nvSpPr>
        <p:spPr>
          <a:xfrm>
            <a:off x="533400" y="6261100"/>
            <a:ext cx="11125200" cy="12700"/>
          </a:xfrm>
          <a:prstGeom prst="rect">
            <a:avLst/>
          </a:prstGeom>
          <a:solidFill>
            <a:srgbClr val="354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0300" y="6426200"/>
            <a:ext cx="508000" cy="305816"/>
          </a:xfrm>
          <a:prstGeom prst="rect">
            <a:avLst/>
          </a:prstGeom>
          <a:noFill/>
        </p:spPr>
        <p:txBody>
          <a:bodyPr wrap="none" lIns="0" rIns="0" tIns="0" bIns="0" anchor="t">
            <a:spAutoFit/>
          </a:bodyPr>
          <a:lstStyle/>
          <a:p>
            <a:pPr>
              <a:lnSpc>
                <a:spcPts val="1408"/>
              </a:lnSpc>
              <a:spcBef>
                <a:spcPts val="0"/>
              </a:spcBef>
              <a:spcAft>
                <a:spcPts val="0"/>
              </a:spcAft>
              <a:defRPr sz="1100" b="0">
                <a:solidFill>
                  <a:srgbClr val="52D5C4"/>
                </a:solidFill>
                <a:latin typeface="Arial"/>
              </a:defRPr>
            </a:pPr>
            <a:r>
              <a:t>22</a:t>
            </a:r>
          </a:p>
        </p:txBody>
      </p:sp>
      <p:sp>
        <p:nvSpPr>
          <p:cNvPr id="7" name="Rectangle 6"/>
          <p:cNvSpPr/>
          <p:nvPr/>
        </p:nvSpPr>
        <p:spPr>
          <a:xfrm>
            <a:off x="533400" y="1905000"/>
            <a:ext cx="11125200" cy="1016000"/>
          </a:xfrm>
          <a:prstGeom prst="rect">
            <a:avLst/>
          </a:prstGeom>
          <a:solidFill>
            <a:srgbClr val="1B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600" y="2082800"/>
            <a:ext cx="4318000" cy="484631"/>
          </a:xfrm>
          <a:prstGeom prst="rect">
            <a:avLst/>
          </a:prstGeom>
          <a:noFill/>
        </p:spPr>
        <p:txBody>
          <a:bodyPr wrap="none" lIns="0" rIns="0" tIns="0" bIns="0" anchor="t">
            <a:spAutoFit/>
          </a:bodyPr>
          <a:lstStyle/>
          <a:p>
            <a:pPr>
              <a:lnSpc>
                <a:spcPts val="2816"/>
              </a:lnSpc>
              <a:spcBef>
                <a:spcPts val="0"/>
              </a:spcBef>
              <a:spcAft>
                <a:spcPts val="0"/>
              </a:spcAft>
              <a:defRPr sz="2200" b="1">
                <a:solidFill>
                  <a:srgbClr val="F4F7FB"/>
                </a:solidFill>
                <a:latin typeface="Arial"/>
              </a:defRPr>
            </a:pPr>
            <a:r>
              <a:t>Kushekbayev Batyrlan</a:t>
            </a:r>
          </a:p>
        </p:txBody>
      </p:sp>
      <p:sp>
        <p:nvSpPr>
          <p:cNvPr id="9" name="TextBox 8"/>
          <p:cNvSpPr txBox="1"/>
          <p:nvPr/>
        </p:nvSpPr>
        <p:spPr>
          <a:xfrm>
            <a:off x="5334000" y="2032000"/>
            <a:ext cx="5969000" cy="419608"/>
          </a:xfrm>
          <a:prstGeom prst="rect">
            <a:avLst/>
          </a:prstGeom>
          <a:noFill/>
        </p:spPr>
        <p:txBody>
          <a:bodyPr wrap="none" lIns="0" rIns="0" tIns="0" bIns="0" anchor="t">
            <a:spAutoFit/>
          </a:bodyPr>
          <a:lstStyle/>
          <a:p>
            <a:pPr>
              <a:lnSpc>
                <a:spcPts val="2304"/>
              </a:lnSpc>
              <a:spcBef>
                <a:spcPts val="0"/>
              </a:spcBef>
              <a:spcAft>
                <a:spcPts val="0"/>
              </a:spcAft>
              <a:defRPr sz="1800" b="1">
                <a:solidFill>
                  <a:srgbClr val="52D5C4"/>
                </a:solidFill>
                <a:latin typeface="Arial"/>
              </a:defRPr>
            </a:pPr>
            <a:r>
              <a:t>main.py</a:t>
            </a:r>
          </a:p>
        </p:txBody>
      </p:sp>
      <p:sp>
        <p:nvSpPr>
          <p:cNvPr id="10" name="TextBox 9"/>
          <p:cNvSpPr txBox="1"/>
          <p:nvPr/>
        </p:nvSpPr>
        <p:spPr>
          <a:xfrm>
            <a:off x="5334000" y="2438400"/>
            <a:ext cx="59690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Menu, input, tables and error messages</a:t>
            </a:r>
          </a:p>
        </p:txBody>
      </p:sp>
      <p:sp>
        <p:nvSpPr>
          <p:cNvPr id="11" name="Rectangle 10"/>
          <p:cNvSpPr/>
          <p:nvPr/>
        </p:nvSpPr>
        <p:spPr>
          <a:xfrm>
            <a:off x="533400" y="3124200"/>
            <a:ext cx="11125200" cy="1016000"/>
          </a:xfrm>
          <a:prstGeom prst="rect">
            <a:avLst/>
          </a:prstGeom>
          <a:solidFill>
            <a:srgbClr val="1B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600" y="3302000"/>
            <a:ext cx="4318000" cy="484631"/>
          </a:xfrm>
          <a:prstGeom prst="rect">
            <a:avLst/>
          </a:prstGeom>
          <a:noFill/>
        </p:spPr>
        <p:txBody>
          <a:bodyPr wrap="none" lIns="0" rIns="0" tIns="0" bIns="0" anchor="t">
            <a:spAutoFit/>
          </a:bodyPr>
          <a:lstStyle/>
          <a:p>
            <a:pPr>
              <a:lnSpc>
                <a:spcPts val="2816"/>
              </a:lnSpc>
              <a:spcBef>
                <a:spcPts val="0"/>
              </a:spcBef>
              <a:spcAft>
                <a:spcPts val="0"/>
              </a:spcAft>
              <a:defRPr sz="2200" b="1">
                <a:solidFill>
                  <a:srgbClr val="F4F7FB"/>
                </a:solidFill>
                <a:latin typeface="Arial"/>
              </a:defRPr>
            </a:pPr>
            <a:r>
              <a:t>Aben Batyr</a:t>
            </a:r>
          </a:p>
        </p:txBody>
      </p:sp>
      <p:sp>
        <p:nvSpPr>
          <p:cNvPr id="13" name="TextBox 12"/>
          <p:cNvSpPr txBox="1"/>
          <p:nvPr/>
        </p:nvSpPr>
        <p:spPr>
          <a:xfrm>
            <a:off x="5334000" y="3251200"/>
            <a:ext cx="5969000" cy="419608"/>
          </a:xfrm>
          <a:prstGeom prst="rect">
            <a:avLst/>
          </a:prstGeom>
          <a:noFill/>
        </p:spPr>
        <p:txBody>
          <a:bodyPr wrap="none" lIns="0" rIns="0" tIns="0" bIns="0" anchor="t">
            <a:spAutoFit/>
          </a:bodyPr>
          <a:lstStyle/>
          <a:p>
            <a:pPr>
              <a:lnSpc>
                <a:spcPts val="2304"/>
              </a:lnSpc>
              <a:spcBef>
                <a:spcPts val="0"/>
              </a:spcBef>
              <a:spcAft>
                <a:spcPts val="0"/>
              </a:spcAft>
              <a:defRPr sz="1800" b="1">
                <a:solidFill>
                  <a:srgbClr val="52D5C4"/>
                </a:solidFill>
                <a:latin typeface="Arial"/>
              </a:defRPr>
            </a:pPr>
            <a:r>
              <a:t>database.py</a:t>
            </a:r>
          </a:p>
        </p:txBody>
      </p:sp>
      <p:sp>
        <p:nvSpPr>
          <p:cNvPr id="14" name="TextBox 13"/>
          <p:cNvSpPr txBox="1"/>
          <p:nvPr/>
        </p:nvSpPr>
        <p:spPr>
          <a:xfrm>
            <a:off x="5334000" y="3657600"/>
            <a:ext cx="59690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SQLite, relationships and random data</a:t>
            </a:r>
          </a:p>
        </p:txBody>
      </p:sp>
      <p:sp>
        <p:nvSpPr>
          <p:cNvPr id="15" name="Rectangle 14"/>
          <p:cNvSpPr/>
          <p:nvPr/>
        </p:nvSpPr>
        <p:spPr>
          <a:xfrm>
            <a:off x="533400" y="4343400"/>
            <a:ext cx="11125200" cy="1016000"/>
          </a:xfrm>
          <a:prstGeom prst="rect">
            <a:avLst/>
          </a:prstGeom>
          <a:solidFill>
            <a:srgbClr val="1B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600" y="4521200"/>
            <a:ext cx="4318000" cy="484631"/>
          </a:xfrm>
          <a:prstGeom prst="rect">
            <a:avLst/>
          </a:prstGeom>
          <a:noFill/>
        </p:spPr>
        <p:txBody>
          <a:bodyPr wrap="none" lIns="0" rIns="0" tIns="0" bIns="0" anchor="t">
            <a:spAutoFit/>
          </a:bodyPr>
          <a:lstStyle/>
          <a:p>
            <a:pPr>
              <a:lnSpc>
                <a:spcPts val="2816"/>
              </a:lnSpc>
              <a:spcBef>
                <a:spcPts val="0"/>
              </a:spcBef>
              <a:spcAft>
                <a:spcPts val="0"/>
              </a:spcAft>
              <a:defRPr sz="2200" b="1">
                <a:solidFill>
                  <a:srgbClr val="F4F7FB"/>
                </a:solidFill>
                <a:latin typeface="Arial"/>
              </a:defRPr>
            </a:pPr>
            <a:r>
              <a:t>Abduldinov Alibek</a:t>
            </a:r>
          </a:p>
        </p:txBody>
      </p:sp>
      <p:sp>
        <p:nvSpPr>
          <p:cNvPr id="17" name="TextBox 16"/>
          <p:cNvSpPr txBox="1"/>
          <p:nvPr/>
        </p:nvSpPr>
        <p:spPr>
          <a:xfrm>
            <a:off x="5334000" y="4470400"/>
            <a:ext cx="5969000" cy="419608"/>
          </a:xfrm>
          <a:prstGeom prst="rect">
            <a:avLst/>
          </a:prstGeom>
          <a:noFill/>
        </p:spPr>
        <p:txBody>
          <a:bodyPr wrap="none" lIns="0" rIns="0" tIns="0" bIns="0" anchor="t">
            <a:spAutoFit/>
          </a:bodyPr>
          <a:lstStyle/>
          <a:p>
            <a:pPr>
              <a:lnSpc>
                <a:spcPts val="2304"/>
              </a:lnSpc>
              <a:spcBef>
                <a:spcPts val="0"/>
              </a:spcBef>
              <a:spcAft>
                <a:spcPts val="0"/>
              </a:spcAft>
              <a:defRPr sz="1800" b="1">
                <a:solidFill>
                  <a:srgbClr val="52D5C4"/>
                </a:solidFill>
                <a:latin typeface="Arial"/>
              </a:defRPr>
            </a:pPr>
            <a:r>
              <a:t>airline.py</a:t>
            </a:r>
          </a:p>
        </p:txBody>
      </p:sp>
      <p:sp>
        <p:nvSpPr>
          <p:cNvPr id="18" name="TextBox 17"/>
          <p:cNvSpPr txBox="1"/>
          <p:nvPr/>
        </p:nvSpPr>
        <p:spPr>
          <a:xfrm>
            <a:off x="5334000" y="4876800"/>
            <a:ext cx="5969000" cy="403352"/>
          </a:xfrm>
          <a:prstGeom prst="rect">
            <a:avLst/>
          </a:prstGeom>
          <a:noFill/>
        </p:spPr>
        <p:txBody>
          <a:bodyPr wrap="none" lIns="0" rIns="0" tIns="0" bIns="0" anchor="t">
            <a:spAutoFit/>
          </a:bodyPr>
          <a:lstStyle/>
          <a:p>
            <a:pPr>
              <a:lnSpc>
                <a:spcPts val="2176"/>
              </a:lnSpc>
              <a:spcBef>
                <a:spcPts val="0"/>
              </a:spcBef>
              <a:spcAft>
                <a:spcPts val="0"/>
              </a:spcAft>
              <a:defRPr sz="1700" b="0">
                <a:solidFill>
                  <a:srgbClr val="B7C6D8"/>
                </a:solidFill>
                <a:latin typeface="Arial"/>
              </a:defRPr>
            </a:pPr>
            <a:r>
              <a:t>Booking, re validation, search and results</a:t>
            </a:r>
          </a:p>
        </p:txBody>
      </p:sp>
      <p:sp>
        <p:nvSpPr>
          <p:cNvPr id="19" name="TextBox 18"/>
          <p:cNvSpPr txBox="1"/>
          <p:nvPr/>
        </p:nvSpPr>
        <p:spPr>
          <a:xfrm>
            <a:off x="533400" y="5702300"/>
            <a:ext cx="11125200" cy="452120"/>
          </a:xfrm>
          <a:prstGeom prst="rect">
            <a:avLst/>
          </a:prstGeom>
          <a:noFill/>
        </p:spPr>
        <p:txBody>
          <a:bodyPr wrap="none" lIns="0" rIns="0" tIns="0" bIns="0" anchor="t">
            <a:spAutoFit/>
          </a:bodyPr>
          <a:lstStyle/>
          <a:p>
            <a:pPr>
              <a:lnSpc>
                <a:spcPts val="2560"/>
              </a:lnSpc>
              <a:spcBef>
                <a:spcPts val="0"/>
              </a:spcBef>
              <a:spcAft>
                <a:spcPts val="0"/>
              </a:spcAft>
              <a:defRPr sz="2000" b="0">
                <a:solidFill>
                  <a:srgbClr val="52D5C4"/>
                </a:solidFill>
                <a:latin typeface="Arial"/>
              </a:defRPr>
            </a:pPr>
            <a:r>
              <a:t>Next: live demonstration and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